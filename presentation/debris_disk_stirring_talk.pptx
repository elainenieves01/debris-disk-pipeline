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3" r:id="rId9"/>
    <p:sldId id="265" r:id="rId10"/>
    <p:sldId id="266" r:id="rId11"/>
    <p:sldId id="268" r:id="rId12"/>
    <p:sldId id="270" r:id="rId13"/>
    <p:sldId id="264" r:id="rId14"/>
    <p:sldId id="262" r:id="rId15"/>
    <p:sldId id="271" r:id="rId16"/>
    <p:sldId id="267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21"/>
    <p:restoredTop sz="94675"/>
  </p:normalViewPr>
  <p:slideViewPr>
    <p:cSldViewPr snapToGrid="0" snapToObjects="1">
      <p:cViewPr>
        <p:scale>
          <a:sx n="64" d="100"/>
          <a:sy n="64" d="100"/>
        </p:scale>
        <p:origin x="600" y="17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4005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minutes: ~3.5 min intro, 3.5 min stirring, 5.5 min simulations, 2 min planet + summary. Fill in name, affiliation, 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what the animation shows before it plays (what the dots are, what is being stirred). Planetesimals collide, break apart, make dust; we only see the dust. Dust is removed by radiation pressure and Poynting-Robertson drag, so it must be continuously replenished.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 which system your 100 AU belt is modeled on (HD 216435?) and name it here if useful. Resolved with ALMA, HST, JWST.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Primordial disks are dynamically cold. Something has to excite eccentricities and inclinations, and the answer sets when the collisional cascade turns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Setup for the end of the talk: today I test self-stirring; next I add a planet. A stellar flyby is a third option; one sentence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Mixed stirring = a planet and self-gravitating planetesimals acting together. Compare e_rms(t) against the self-stirring-only runs while varying: planet/disk mass ratio, planet-disk distance, mass distribution (slope q, stirrer mass). Add any further factors you had in mind (e.g. planet eccentricity) here; your message cut off after 'mass distributions'. If short on time, cut this slide or merge it into the previous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e_rms and C_e here (fill in your definition from the Krivov &amp; Booth comparison). Inclination dispersion works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 panel is the cold disk at t = 0; right is the same belt after 10 Myr. Also varied: q = 2.5, 4.5, uniform masses, and a Lorentzian a-distribution in the newest runs. Test particles feel gravity but do not stir.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Fits are log-log degree-1 polyfits for t &gt;= 1e5 yr (calibration/rms_e_all_runs_fits.md). The 1 Earth-mass q=3.5 run gives p = 0.25 over 10 Myr. State whether this agrees with Krivov &amp; Booth.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Amplitude A (e = A t^p): 2.8e-4 for 1 Earth mass uniform vs 1.4e-3 for 10 Earth masses uniform. Stirrer runs are 100 Myr; the 50x run reaches about 0.15, 10x about 0.07. Check wording on test particles (p about 0.20 vs 0.22 for massive bodies) if you mention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code already supports a giant planet (a-e and a-i figures mark it). Fill in the planned planet parameters and when to expect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 figures if asked: a-e evolution, survival fraction, Rayleigh outlier cut (outputs/&lt;run&gt;/figures).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 slide; cut first if short on time. One sentence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Caveat: observations see dust, not the planetesimals doing the stirring. This is where N-body simulations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B764C-7A85-1547-8C8C-9C0F7DD8B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42116-4C73-03C7-FD4B-27E4581123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60518-7FA9-FD10-4EDF-A245FD9A4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Optional; cut if short on time. Fill in the takeaway: the setup reproduces the published growth rate, with a modest amplitude offset.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D83CD-F59C-EA98-4EDF-1AD29859E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277203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Optional; cut if short on time. Fill in the takeaway: the setup reproduces the published growth rate, with a modest amplitude offset.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5120640" cy="1554480"/>
          </a:xfrm>
        </p:spPr>
        <p:txBody>
          <a:bodyPr wrap="square" lIns="0" tIns="0" rIns="0" bIns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mbria"/>
              </a:rPr>
              <a:t>Testing Debris Disk Dynamics </a:t>
            </a:r>
            <a:endParaRPr sz="4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063240"/>
            <a:ext cx="51206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0" i="0" dirty="0">
                <a:solidFill>
                  <a:srgbClr val="8FB8DE"/>
                </a:solidFill>
                <a:latin typeface="Calibri"/>
              </a:rPr>
              <a:t>Investigating the Effects of Planetesimal Size on Long Term Debris Disk Evolution</a:t>
            </a:r>
            <a:endParaRPr sz="1800" b="0" i="0" dirty="0">
              <a:solidFill>
                <a:srgbClr val="8FB8D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297680"/>
            <a:ext cx="71688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solidFill>
                  <a:srgbClr val="9AA5BD"/>
                </a:solidFill>
                <a:latin typeface="Calibri"/>
              </a:rPr>
              <a:t>Elaine Nieves</a:t>
            </a:r>
            <a:r>
              <a:rPr sz="1400" b="0" i="0" dirty="0">
                <a:solidFill>
                  <a:srgbClr val="9AA5BD"/>
                </a:solidFill>
                <a:latin typeface="Calibri"/>
              </a:rPr>
              <a:t>  ·  </a:t>
            </a:r>
            <a:r>
              <a:rPr lang="en-US" sz="1400" dirty="0">
                <a:solidFill>
                  <a:srgbClr val="9AA5BD"/>
                </a:solidFill>
                <a:latin typeface="Calibri"/>
              </a:rPr>
              <a:t>University of Atacama</a:t>
            </a:r>
            <a:r>
              <a:rPr sz="1400" b="0" i="0" dirty="0">
                <a:solidFill>
                  <a:srgbClr val="9AA5BD"/>
                </a:solidFill>
                <a:latin typeface="Calibri"/>
              </a:rPr>
              <a:t>  ·  </a:t>
            </a:r>
            <a:r>
              <a:rPr lang="en-US" sz="1400" b="0" i="0" dirty="0">
                <a:solidFill>
                  <a:srgbClr val="9AA5BD"/>
                </a:solidFill>
                <a:latin typeface="Calibri"/>
              </a:rPr>
              <a:t>Supervisor: Dr. Marco </a:t>
            </a:r>
            <a:r>
              <a:rPr lang="en-US" sz="1400" dirty="0">
                <a:solidFill>
                  <a:srgbClr val="9AA5BD"/>
                </a:solidFill>
              </a:rPr>
              <a:t>Muñoz Gutiérrez · SOCHIAS 2026</a:t>
            </a:r>
            <a:endParaRPr sz="1400" b="0" i="0" dirty="0">
              <a:solidFill>
                <a:srgbClr val="9AA5BD"/>
              </a:solidFill>
              <a:latin typeface="Calibri"/>
            </a:endParaRPr>
          </a:p>
        </p:txBody>
      </p:sp>
      <p:sp>
        <p:nvSpPr>
          <p:cNvPr id="5" name="Disk ring 1"/>
          <p:cNvSpPr/>
          <p:nvPr/>
        </p:nvSpPr>
        <p:spPr>
          <a:xfrm>
            <a:off x="5440680" y="1828800"/>
            <a:ext cx="3566160" cy="1371600"/>
          </a:xfrm>
          <a:prstGeom prst="ellipse">
            <a:avLst/>
          </a:prstGeom>
          <a:noFill/>
          <a:ln w="25400">
            <a:solidFill>
              <a:srgbClr val="8F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sk ring 2"/>
          <p:cNvSpPr/>
          <p:nvPr/>
        </p:nvSpPr>
        <p:spPr>
          <a:xfrm>
            <a:off x="5852160" y="1988819"/>
            <a:ext cx="2743200" cy="1051560"/>
          </a:xfrm>
          <a:prstGeom prst="ellipse">
            <a:avLst/>
          </a:prstGeom>
          <a:noFill/>
          <a:ln w="15875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isk ring 3"/>
          <p:cNvSpPr/>
          <p:nvPr/>
        </p:nvSpPr>
        <p:spPr>
          <a:xfrm>
            <a:off x="6217920" y="2125980"/>
            <a:ext cx="2011680" cy="777240"/>
          </a:xfrm>
          <a:prstGeom prst="ellipse">
            <a:avLst/>
          </a:prstGeom>
          <a:noFill/>
          <a:ln w="15875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ar"/>
          <p:cNvSpPr/>
          <p:nvPr/>
        </p:nvSpPr>
        <p:spPr>
          <a:xfrm>
            <a:off x="7022592" y="2313432"/>
            <a:ext cx="402336" cy="402336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lanetesimal 1"/>
          <p:cNvSpPr/>
          <p:nvPr/>
        </p:nvSpPr>
        <p:spPr>
          <a:xfrm>
            <a:off x="8513064" y="2432304"/>
            <a:ext cx="73152" cy="73152"/>
          </a:xfrm>
          <a:prstGeom prst="ellipse">
            <a:avLst/>
          </a:prstGeom>
          <a:solidFill>
            <a:srgbClr val="8F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lanetesimal 2"/>
          <p:cNvSpPr/>
          <p:nvPr/>
        </p:nvSpPr>
        <p:spPr>
          <a:xfrm>
            <a:off x="5907024" y="2615184"/>
            <a:ext cx="73152" cy="73152"/>
          </a:xfrm>
          <a:prstGeom prst="ellipse">
            <a:avLst/>
          </a:prstGeom>
          <a:solidFill>
            <a:srgbClr val="8F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lanetesimal 3"/>
          <p:cNvSpPr/>
          <p:nvPr/>
        </p:nvSpPr>
        <p:spPr>
          <a:xfrm>
            <a:off x="7918704" y="1901952"/>
            <a:ext cx="73152" cy="73152"/>
          </a:xfrm>
          <a:prstGeom prst="ellipse">
            <a:avLst/>
          </a:prstGeom>
          <a:solidFill>
            <a:srgbClr val="8F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lanetesimal 4"/>
          <p:cNvSpPr/>
          <p:nvPr/>
        </p:nvSpPr>
        <p:spPr>
          <a:xfrm>
            <a:off x="6547104" y="3026664"/>
            <a:ext cx="73152" cy="73152"/>
          </a:xfrm>
          <a:prstGeom prst="ellipse">
            <a:avLst/>
          </a:prstGeom>
          <a:solidFill>
            <a:srgbClr val="8F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lanetesimal 5"/>
          <p:cNvSpPr/>
          <p:nvPr/>
        </p:nvSpPr>
        <p:spPr>
          <a:xfrm>
            <a:off x="7644384" y="3054096"/>
            <a:ext cx="73152" cy="73152"/>
          </a:xfrm>
          <a:prstGeom prst="ellipse">
            <a:avLst/>
          </a:prstGeom>
          <a:solidFill>
            <a:srgbClr val="8F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lanetesimal 6"/>
          <p:cNvSpPr/>
          <p:nvPr/>
        </p:nvSpPr>
        <p:spPr>
          <a:xfrm>
            <a:off x="6272784" y="1975104"/>
            <a:ext cx="73152" cy="73152"/>
          </a:xfrm>
          <a:prstGeom prst="ellipse">
            <a:avLst/>
          </a:prstGeom>
          <a:solidFill>
            <a:srgbClr val="8F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What is a debris disk?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371600"/>
            <a:ext cx="2697480" cy="2421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600" b="0" i="0" dirty="0">
                <a:solidFill>
                  <a:srgbClr val="FFFFFF"/>
                </a:solidFill>
                <a:latin typeface="Calibri"/>
              </a:rPr>
              <a:t>A belt of rock and ice left over from planet formation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lang="en-US" sz="1600" dirty="0" err="1">
                <a:solidFill>
                  <a:srgbClr val="FFFFFF"/>
                </a:solidFill>
                <a:latin typeface="Calibri"/>
              </a:rPr>
              <a:t>Primoirdial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dust should vanish in about a Myr, so </a:t>
            </a:r>
            <a:r>
              <a:rPr lang="en-US" sz="1600" dirty="0">
                <a:solidFill>
                  <a:srgbClr val="FFFFFF"/>
                </a:solidFill>
                <a:latin typeface="Calibri"/>
              </a:rPr>
              <a:t>the dust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600" b="0" i="0" dirty="0">
                <a:solidFill>
                  <a:srgbClr val="FFFFFF"/>
                </a:solidFill>
                <a:latin typeface="Calibri"/>
              </a:rPr>
              <a:t>we observe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must be resupplied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</a:rPr>
              <a:t>S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ource</a:t>
            </a:r>
            <a:r>
              <a:rPr lang="en-US" sz="1600" dirty="0">
                <a:solidFill>
                  <a:srgbClr val="FFFFFF"/>
                </a:solidFill>
                <a:latin typeface="Calibri"/>
              </a:rPr>
              <a:t> of the Dust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: collisions between planetesimals we cannot see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2</a:t>
            </a:r>
          </a:p>
        </p:txBody>
      </p:sp>
      <p:pic>
        <p:nvPicPr>
          <p:cNvPr id="9" name="debris_disk">
            <a:hlinkClick r:id="" action="ppaction://media"/>
            <a:extLst>
              <a:ext uri="{FF2B5EF4-FFF2-40B4-BE49-F238E27FC236}">
                <a16:creationId xmlns:a16="http://schemas.microsoft.com/office/drawing/2014/main" id="{25F216F5-431A-726A-06C7-FE0C567329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1141" y="1371600"/>
            <a:ext cx="5531513" cy="3111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Why debris disks matter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1325880"/>
            <a:ext cx="2560320" cy="283464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 fossil record icon circle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 fossil record icon"/>
          <p:cNvSpPr/>
          <p:nvPr/>
        </p:nvSpPr>
        <p:spPr>
          <a:xfrm>
            <a:off x="969264" y="1746504"/>
            <a:ext cx="301751" cy="301751"/>
          </a:xfrm>
          <a:prstGeom prst="flowChartCol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540"/>
                </a:solidFill>
                <a:latin typeface="Calibri"/>
              </a:rPr>
              <a:t>A fossil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540"/>
                </a:solidFill>
                <a:latin typeface="Calibri"/>
              </a:rPr>
              <a:t>Belt size, mass and structure record how planetesimals formed</a:t>
            </a:r>
          </a:p>
        </p:txBody>
      </p:sp>
      <p:sp>
        <p:nvSpPr>
          <p:cNvPr id="8" name="Card 2"/>
          <p:cNvSpPr/>
          <p:nvPr/>
        </p:nvSpPr>
        <p:spPr>
          <a:xfrm>
            <a:off x="3291840" y="1325880"/>
            <a:ext cx="2560320" cy="283464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lanet signposts icon circle"/>
          <p:cNvSpPr/>
          <p:nvPr/>
        </p:nvSpPr>
        <p:spPr>
          <a:xfrm>
            <a:off x="3520440" y="1554480"/>
            <a:ext cx="685800" cy="685800"/>
          </a:xfrm>
          <a:prstGeom prst="ellipse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lanet signposts icon"/>
          <p:cNvSpPr/>
          <p:nvPr/>
        </p:nvSpPr>
        <p:spPr>
          <a:xfrm>
            <a:off x="3712464" y="1746504"/>
            <a:ext cx="301751" cy="301751"/>
          </a:xfrm>
          <a:prstGeom prst="don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540"/>
                </a:solidFill>
                <a:latin typeface="Calibri"/>
              </a:rPr>
              <a:t>Planet signposts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88036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540"/>
                </a:solidFill>
                <a:latin typeface="Calibri"/>
              </a:rPr>
              <a:t>Gaps, warps and sharp edges can point to planets we cannot see</a:t>
            </a:r>
          </a:p>
        </p:txBody>
      </p:sp>
      <p:sp>
        <p:nvSpPr>
          <p:cNvPr id="13" name="Card 3"/>
          <p:cNvSpPr/>
          <p:nvPr/>
        </p:nvSpPr>
        <p:spPr>
          <a:xfrm>
            <a:off x="6035040" y="1325880"/>
            <a:ext cx="2560320" cy="283464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ur own system icon circle"/>
          <p:cNvSpPr/>
          <p:nvPr/>
        </p:nvSpPr>
        <p:spPr>
          <a:xfrm>
            <a:off x="6263640" y="1554480"/>
            <a:ext cx="685800" cy="685800"/>
          </a:xfrm>
          <a:prstGeom prst="ellipse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ur own system icon"/>
          <p:cNvSpPr/>
          <p:nvPr/>
        </p:nvSpPr>
        <p:spPr>
          <a:xfrm>
            <a:off x="6455664" y="1746504"/>
            <a:ext cx="301751" cy="301751"/>
          </a:xfrm>
          <a:prstGeom prst="su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540"/>
                </a:solidFill>
                <a:latin typeface="Calibri"/>
              </a:rPr>
              <a:t>Our own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8036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B2540"/>
                </a:solidFill>
                <a:latin typeface="Calibri"/>
              </a:rPr>
              <a:t>Analogs of the Kuiper belt, and the dust around habitable-zone planets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Disk_v06_edgeon">
            <a:hlinkClick r:id="" action="ppaction://media"/>
            <a:extLst>
              <a:ext uri="{FF2B5EF4-FFF2-40B4-BE49-F238E27FC236}">
                <a16:creationId xmlns:a16="http://schemas.microsoft.com/office/drawing/2014/main" id="{19CBA5CC-2C1F-5DA9-35B7-113CDEE9AB4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90452" y="1008786"/>
            <a:ext cx="4963098" cy="27917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The puzzle: collisions need stirring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EB9FFC-F12C-30F6-0662-873B87F9E9AA}"/>
              </a:ext>
            </a:extLst>
          </p:cNvPr>
          <p:cNvGrpSpPr/>
          <p:nvPr/>
        </p:nvGrpSpPr>
        <p:grpSpPr>
          <a:xfrm>
            <a:off x="64425" y="2841395"/>
            <a:ext cx="3273136" cy="1838305"/>
            <a:chOff x="613064" y="1499254"/>
            <a:chExt cx="3273136" cy="1838305"/>
          </a:xfrm>
        </p:grpSpPr>
        <p:sp>
          <p:nvSpPr>
            <p:cNvPr id="4" name="TextBox 3"/>
            <p:cNvSpPr txBox="1"/>
            <p:nvPr/>
          </p:nvSpPr>
          <p:spPr>
            <a:xfrm>
              <a:off x="1410686" y="1499254"/>
              <a:ext cx="1130929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i="0" dirty="0">
                  <a:solidFill>
                    <a:srgbClr val="5B8DB8"/>
                  </a:solidFill>
                  <a:latin typeface="Calibri"/>
                </a:rPr>
                <a:t>Cold disk</a:t>
              </a:r>
            </a:p>
          </p:txBody>
        </p:sp>
        <p:sp>
          <p:nvSpPr>
            <p:cNvPr id="3" name="Cold disk card"/>
            <p:cNvSpPr/>
            <p:nvPr/>
          </p:nvSpPr>
          <p:spPr>
            <a:xfrm>
              <a:off x="613064" y="1842965"/>
              <a:ext cx="3108960" cy="1293011"/>
            </a:xfrm>
            <a:prstGeom prst="roundRect">
              <a:avLst>
                <a:gd name="adj" fmla="val 6000"/>
              </a:avLst>
            </a:prstGeom>
            <a:solidFill>
              <a:srgbClr val="EEF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1874519"/>
              <a:ext cx="3108960" cy="14630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28600" indent="-228600">
                <a:spcAft>
                  <a:spcPts val="800"/>
                </a:spcAft>
                <a:buChar char="•"/>
              </a:pPr>
              <a:r>
                <a:rPr sz="1500" b="0" i="0" dirty="0">
                  <a:solidFill>
                    <a:srgbClr val="1B2540"/>
                  </a:solidFill>
                  <a:latin typeface="Calibri"/>
                </a:rPr>
                <a:t>e ≈ 0, </a:t>
              </a:r>
              <a:r>
                <a:rPr sz="1500" b="0" i="0" dirty="0" err="1">
                  <a:solidFill>
                    <a:srgbClr val="1B2540"/>
                  </a:solidFill>
                  <a:latin typeface="Calibri"/>
                </a:rPr>
                <a:t>i</a:t>
              </a:r>
              <a:r>
                <a:rPr sz="1500" b="0" i="0" dirty="0">
                  <a:solidFill>
                    <a:srgbClr val="1B2540"/>
                  </a:solidFill>
                  <a:latin typeface="Calibri"/>
                </a:rPr>
                <a:t> ≈ 0</a:t>
              </a:r>
            </a:p>
            <a:p>
              <a:pPr marL="228600" indent="-228600">
                <a:spcAft>
                  <a:spcPts val="800"/>
                </a:spcAft>
                <a:buChar char="•"/>
              </a:pPr>
              <a:r>
                <a:rPr sz="1500" b="0" i="0" dirty="0">
                  <a:solidFill>
                    <a:srgbClr val="1B2540"/>
                  </a:solidFill>
                  <a:latin typeface="Calibri"/>
                </a:rPr>
                <a:t>Low relative speeds</a:t>
              </a:r>
            </a:p>
            <a:p>
              <a:pPr marL="228600" indent="-228600">
                <a:spcAft>
                  <a:spcPts val="800"/>
                </a:spcAft>
                <a:buChar char="•"/>
              </a:pPr>
              <a:r>
                <a:rPr sz="1500" b="0" i="0" dirty="0">
                  <a:solidFill>
                    <a:srgbClr val="1B2540"/>
                  </a:solidFill>
                  <a:latin typeface="Calibri"/>
                </a:rPr>
                <a:t>Collisions are gentle: bodies stick, little dust</a:t>
              </a:r>
            </a:p>
          </p:txBody>
        </p:sp>
      </p:grpSp>
      <p:sp>
        <p:nvSpPr>
          <p:cNvPr id="6" name="Stirring arrow"/>
          <p:cNvSpPr/>
          <p:nvPr/>
        </p:nvSpPr>
        <p:spPr>
          <a:xfrm>
            <a:off x="4403891" y="3856614"/>
            <a:ext cx="640080" cy="411480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5DF04A-052C-6D80-BD79-AEB27107E276}"/>
              </a:ext>
            </a:extLst>
          </p:cNvPr>
          <p:cNvGrpSpPr/>
          <p:nvPr/>
        </p:nvGrpSpPr>
        <p:grpSpPr>
          <a:xfrm>
            <a:off x="5806440" y="2790880"/>
            <a:ext cx="4892040" cy="1659002"/>
            <a:chOff x="5029200" y="1443537"/>
            <a:chExt cx="4892040" cy="1636327"/>
          </a:xfrm>
        </p:grpSpPr>
        <p:sp>
          <p:nvSpPr>
            <p:cNvPr id="7" name="Stirred disk card"/>
            <p:cNvSpPr/>
            <p:nvPr/>
          </p:nvSpPr>
          <p:spPr>
            <a:xfrm>
              <a:off x="5029200" y="1846373"/>
              <a:ext cx="3337560" cy="1233491"/>
            </a:xfrm>
            <a:prstGeom prst="roundRect">
              <a:avLst>
                <a:gd name="adj" fmla="val 6000"/>
              </a:avLst>
            </a:prstGeom>
            <a:solidFill>
              <a:srgbClr val="EEF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12280" y="1443537"/>
              <a:ext cx="3108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i="0" dirty="0">
                  <a:solidFill>
                    <a:srgbClr val="E76F51"/>
                  </a:solidFill>
                  <a:latin typeface="Calibri"/>
                </a:rPr>
                <a:t>Stirred disk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257800" y="1874519"/>
                  <a:ext cx="3108960" cy="11297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marL="228600" indent="-228600">
                    <a:spcAft>
                      <a:spcPts val="800"/>
                    </a:spcAft>
                    <a:buChar char="•"/>
                  </a:pPr>
                  <a:r>
                    <a:rPr lang="en-US" sz="1500" b="0" i="0" dirty="0">
                      <a:solidFill>
                        <a:srgbClr val="1B2540"/>
                      </a:solidFill>
                      <a:latin typeface="Calibri"/>
                    </a:rPr>
                    <a:t>Large e, </a:t>
                  </a:r>
                  <a:r>
                    <a:rPr lang="en-US" sz="1500" b="0" i="0" dirty="0" err="1">
                      <a:solidFill>
                        <a:srgbClr val="1B2540"/>
                      </a:solidFill>
                      <a:latin typeface="Calibri"/>
                    </a:rPr>
                    <a:t>i</a:t>
                  </a:r>
                  <a:r>
                    <a:rPr lang="en-US" sz="1500" b="0" i="0" dirty="0">
                      <a:solidFill>
                        <a:srgbClr val="1B2540"/>
                      </a:solidFill>
                      <a:latin typeface="Calibri"/>
                    </a:rPr>
                    <a:t> give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</m:oMath>
                  </a14:m>
                  <a:r>
                    <a:rPr lang="ar-AE" sz="1400" dirty="0">
                      <a:solidFill>
                        <a:srgbClr val="1B2540"/>
                      </a:solidFill>
                    </a:rPr>
                    <a:t> ≈</a:t>
                  </a:r>
                  <a:r>
                    <a:rPr lang="en-US" sz="1400" dirty="0">
                      <a:solidFill>
                        <a:srgbClr val="1B2540"/>
                      </a:solidFill>
                    </a:rPr>
                    <a:t> e ·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𝑘𝑒𝑝𝑙𝑒𝑟</m:t>
                          </m:r>
                        </m:sub>
                      </m:sSub>
                      <m:r>
                        <a:rPr lang="ar-AE" sz="1400" i="1">
                          <a:solidFill>
                            <a:srgbClr val="1B254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ar-AE" sz="1400" dirty="0">
                    <a:solidFill>
                      <a:srgbClr val="1B2540"/>
                    </a:solidFill>
                  </a:endParaRPr>
                </a:p>
                <a:p>
                  <a:pPr marL="228600" indent="-228600">
                    <a:spcAft>
                      <a:spcPts val="800"/>
                    </a:spcAft>
                    <a:buChar char="•"/>
                  </a:pPr>
                  <a:r>
                    <a:rPr lang="en-US" sz="1500" b="0" i="0" dirty="0">
                      <a:solidFill>
                        <a:srgbClr val="1B2540"/>
                      </a:solidFill>
                      <a:latin typeface="Calibri"/>
                    </a:rPr>
                    <a:t>Collisions are destructive</a:t>
                  </a:r>
                </a:p>
                <a:p>
                  <a:pPr marL="228600" indent="-228600">
                    <a:spcAft>
                      <a:spcPts val="800"/>
                    </a:spcAft>
                    <a:buChar char="•"/>
                  </a:pPr>
                  <a:r>
                    <a:rPr lang="en-US" sz="1500" b="0" i="0" dirty="0">
                      <a:solidFill>
                        <a:srgbClr val="1B2540"/>
                      </a:solidFill>
                      <a:latin typeface="Calibri"/>
                    </a:rPr>
                    <a:t>The cascade produces the observed dust</a:t>
                  </a:r>
                  <a:endParaRPr sz="1500" b="0" i="0" dirty="0">
                    <a:solidFill>
                      <a:srgbClr val="1B2540"/>
                    </a:solidFill>
                    <a:latin typeface="Calibri"/>
                  </a:endParaRPr>
                </a:p>
              </p:txBody>
            </p:sp>
          </mc:Choice>
          <mc:Fallback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1874519"/>
                  <a:ext cx="3108960" cy="1129733"/>
                </a:xfrm>
                <a:prstGeom prst="rect">
                  <a:avLst/>
                </a:prstGeom>
                <a:blipFill>
                  <a:blip r:embed="rId6"/>
                  <a:stretch>
                    <a:fillRect l="-3673" t="-6593" r="-1224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8B6307-FD5E-097E-503E-D3F7A8A588C3}"/>
              </a:ext>
            </a:extLst>
          </p:cNvPr>
          <p:cNvGrpSpPr/>
          <p:nvPr/>
        </p:nvGrpSpPr>
        <p:grpSpPr>
          <a:xfrm>
            <a:off x="502920" y="4514051"/>
            <a:ext cx="8275320" cy="606587"/>
            <a:chOff x="502920" y="4297679"/>
            <a:chExt cx="8046720" cy="822960"/>
          </a:xfrm>
        </p:grpSpPr>
        <p:sp>
          <p:nvSpPr>
            <p:cNvPr id="10" name="Banner"/>
            <p:cNvSpPr/>
            <p:nvPr/>
          </p:nvSpPr>
          <p:spPr>
            <a:xfrm>
              <a:off x="502920" y="4297679"/>
              <a:ext cx="8046720" cy="822960"/>
            </a:xfrm>
            <a:prstGeom prst="roundRect">
              <a:avLst>
                <a:gd name="adj" fmla="val 20000"/>
              </a:avLst>
            </a:prstGeom>
            <a:solidFill>
              <a:srgbClr val="0B13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93618" y="4522416"/>
              <a:ext cx="7427422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400" b="1" i="1">
                  <a:solidFill>
                    <a:srgbClr val="F4A259"/>
                  </a:solidFill>
                  <a:latin typeface="Calibri"/>
                </a:rPr>
                <a:t>What stirred the disk, and when?</a:t>
              </a:r>
            </a:p>
          </p:txBody>
        </p:sp>
      </p:grpSp>
      <p:sp>
        <p:nvSpPr>
          <p:cNvPr id="12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 dirty="0">
                <a:solidFill>
                  <a:srgbClr val="1B2540"/>
                </a:solidFill>
                <a:latin typeface="Cambria"/>
              </a:rPr>
              <a:t>Two </a:t>
            </a:r>
            <a:r>
              <a:rPr lang="en-US" sz="3400" b="1" dirty="0">
                <a:solidFill>
                  <a:srgbClr val="1B2540"/>
                </a:solidFill>
                <a:latin typeface="Cambria"/>
              </a:rPr>
              <a:t>main </a:t>
            </a:r>
            <a:r>
              <a:rPr sz="3400" b="1" dirty="0">
                <a:solidFill>
                  <a:srgbClr val="1B2540"/>
                </a:solidFill>
                <a:latin typeface="Cambria"/>
              </a:rPr>
              <a:t>ways to stir a disk</a:t>
            </a:r>
          </a:p>
        </p:txBody>
      </p:sp>
      <p:sp>
        <p:nvSpPr>
          <p:cNvPr id="3" name="Self-stirring card"/>
          <p:cNvSpPr/>
          <p:nvPr/>
        </p:nvSpPr>
        <p:spPr>
          <a:xfrm>
            <a:off x="548640" y="1280160"/>
            <a:ext cx="3840480" cy="3246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5B8DB8"/>
                </a:solidFill>
                <a:latin typeface="Calibri"/>
              </a:rPr>
              <a:t>Self-stirring</a:t>
            </a:r>
          </a:p>
        </p:txBody>
      </p:sp>
      <p:sp>
        <p:nvSpPr>
          <p:cNvPr id="5" name="Self-stirring belt"/>
          <p:cNvSpPr/>
          <p:nvPr/>
        </p:nvSpPr>
        <p:spPr>
          <a:xfrm>
            <a:off x="1097280" y="2011680"/>
            <a:ext cx="2743200" cy="914400"/>
          </a:xfrm>
          <a:prstGeom prst="ellipse">
            <a:avLst/>
          </a:prstGeom>
          <a:noFill/>
          <a:ln w="76200">
            <a:solidFill>
              <a:srgbClr val="8F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elf-stirring star"/>
          <p:cNvSpPr/>
          <p:nvPr/>
        </p:nvSpPr>
        <p:spPr>
          <a:xfrm>
            <a:off x="2386584" y="2386584"/>
            <a:ext cx="164592" cy="164592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irrer 1"/>
          <p:cNvSpPr/>
          <p:nvPr/>
        </p:nvSpPr>
        <p:spPr>
          <a:xfrm>
            <a:off x="1463040" y="2468880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irrer 2"/>
          <p:cNvSpPr/>
          <p:nvPr/>
        </p:nvSpPr>
        <p:spPr>
          <a:xfrm>
            <a:off x="3383280" y="2194560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irrer 3"/>
          <p:cNvSpPr/>
          <p:nvPr/>
        </p:nvSpPr>
        <p:spPr>
          <a:xfrm>
            <a:off x="2560320" y="2807208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irrer 4"/>
          <p:cNvSpPr/>
          <p:nvPr/>
        </p:nvSpPr>
        <p:spPr>
          <a:xfrm>
            <a:off x="1920240" y="1965960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291840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B2540"/>
                </a:solidFill>
                <a:latin typeface="Calibri"/>
              </a:rPr>
              <a:t>Largest planetesimals excite the rest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B2540"/>
                </a:solidFill>
                <a:latin typeface="Calibri"/>
              </a:rPr>
              <a:t>No planet required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B2540"/>
                </a:solidFill>
                <a:latin typeface="Calibri"/>
              </a:rPr>
              <a:t>Stirring front moves outward through the disk</a:t>
            </a:r>
          </a:p>
        </p:txBody>
      </p:sp>
      <p:sp>
        <p:nvSpPr>
          <p:cNvPr id="12" name="Planet stirring card"/>
          <p:cNvSpPr/>
          <p:nvPr/>
        </p:nvSpPr>
        <p:spPr>
          <a:xfrm>
            <a:off x="4754880" y="1280160"/>
            <a:ext cx="3840480" cy="3246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76F51"/>
                </a:solidFill>
                <a:latin typeface="Calibri"/>
              </a:rPr>
              <a:t>Planet stirring</a:t>
            </a:r>
          </a:p>
        </p:txBody>
      </p:sp>
      <p:sp>
        <p:nvSpPr>
          <p:cNvPr id="14" name="Planet stirring belt"/>
          <p:cNvSpPr/>
          <p:nvPr/>
        </p:nvSpPr>
        <p:spPr>
          <a:xfrm>
            <a:off x="5303520" y="2011680"/>
            <a:ext cx="2743200" cy="914400"/>
          </a:xfrm>
          <a:prstGeom prst="ellipse">
            <a:avLst/>
          </a:prstGeom>
          <a:noFill/>
          <a:ln w="76200">
            <a:solidFill>
              <a:srgbClr val="8F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lanet stirring star"/>
          <p:cNvSpPr/>
          <p:nvPr/>
        </p:nvSpPr>
        <p:spPr>
          <a:xfrm>
            <a:off x="6592824" y="2386584"/>
            <a:ext cx="164592" cy="164592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lanet orbit"/>
          <p:cNvSpPr/>
          <p:nvPr/>
        </p:nvSpPr>
        <p:spPr>
          <a:xfrm>
            <a:off x="6126480" y="2267712"/>
            <a:ext cx="1097280" cy="402336"/>
          </a:xfrm>
          <a:prstGeom prst="ellipse">
            <a:avLst/>
          </a:prstGeom>
          <a:noFill/>
          <a:ln w="9525">
            <a:solidFill>
              <a:srgbClr val="9AA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lanet"/>
          <p:cNvSpPr/>
          <p:nvPr/>
        </p:nvSpPr>
        <p:spPr>
          <a:xfrm>
            <a:off x="7159752" y="2404872"/>
            <a:ext cx="128016" cy="12801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291840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B2540"/>
                </a:solidFill>
                <a:latin typeface="Calibri"/>
              </a:rPr>
              <a:t>Secular and resonant forcing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B2540"/>
                </a:solidFill>
                <a:latin typeface="Calibri"/>
              </a:rPr>
              <a:t>Acts on a secular timescale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B2540"/>
                </a:solidFill>
                <a:latin typeface="Calibri"/>
              </a:rPr>
              <a:t>Can also sculpt gaps and edges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Mixed stirring: both at once</a:t>
            </a:r>
          </a:p>
        </p:txBody>
      </p:sp>
      <p:sp>
        <p:nvSpPr>
          <p:cNvPr id="3" name="Self-stirring box"/>
          <p:cNvSpPr/>
          <p:nvPr/>
        </p:nvSpPr>
        <p:spPr>
          <a:xfrm>
            <a:off x="548640" y="118872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Self-stirring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Large planetesimals excite the belt</a:t>
            </a:r>
          </a:p>
        </p:txBody>
      </p:sp>
      <p:sp>
        <p:nvSpPr>
          <p:cNvPr id="6" name="Planet stirring box"/>
          <p:cNvSpPr/>
          <p:nvPr/>
        </p:nvSpPr>
        <p:spPr>
          <a:xfrm>
            <a:off x="3383280" y="118872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40" y="1298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Planet stirring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6916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Secular and resonant forcing</a:t>
            </a:r>
          </a:p>
        </p:txBody>
      </p:sp>
      <p:sp>
        <p:nvSpPr>
          <p:cNvPr id="9" name="Mixed stirring box"/>
          <p:cNvSpPr/>
          <p:nvPr/>
        </p:nvSpPr>
        <p:spPr>
          <a:xfrm>
            <a:off x="6217920" y="118872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98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4A259"/>
                </a:solidFill>
                <a:latin typeface="Calibri"/>
              </a:rPr>
              <a:t>Mixed stirring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Both act on the same disk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18872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4A259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18872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4A259"/>
                </a:solidFill>
                <a:latin typeface="Calibri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231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540"/>
                </a:solidFill>
                <a:latin typeface="Calibri"/>
              </a:rPr>
              <a:t>What could change the stirring rate?</a:t>
            </a:r>
          </a:p>
        </p:txBody>
      </p:sp>
      <p:sp>
        <p:nvSpPr>
          <p:cNvPr id="15" name="Factor 1"/>
          <p:cNvSpPr/>
          <p:nvPr/>
        </p:nvSpPr>
        <p:spPr>
          <a:xfrm>
            <a:off x="548640" y="283464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8DB8"/>
                </a:solidFill>
                <a:latin typeface="Calibri"/>
              </a:rPr>
              <a:t>Planet-to-disk mass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540"/>
                </a:solidFill>
                <a:latin typeface="Calibri"/>
              </a:rPr>
              <a:t>Which one dominates the excitation?</a:t>
            </a:r>
          </a:p>
        </p:txBody>
      </p:sp>
      <p:sp>
        <p:nvSpPr>
          <p:cNvPr id="18" name="Factor 2"/>
          <p:cNvSpPr/>
          <p:nvPr/>
        </p:nvSpPr>
        <p:spPr>
          <a:xfrm>
            <a:off x="3291840" y="283464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29260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8DB8"/>
                </a:solidFill>
                <a:latin typeface="Calibri"/>
              </a:rPr>
              <a:t>Planet–disk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337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540"/>
                </a:solidFill>
                <a:latin typeface="Calibri"/>
              </a:rPr>
              <a:t>How strongly planet forcing reaches the belt</a:t>
            </a:r>
          </a:p>
        </p:txBody>
      </p:sp>
      <p:sp>
        <p:nvSpPr>
          <p:cNvPr id="21" name="Factor 3"/>
          <p:cNvSpPr/>
          <p:nvPr/>
        </p:nvSpPr>
        <p:spPr>
          <a:xfrm>
            <a:off x="6035040" y="283464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9260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B8DB8"/>
                </a:solidFill>
                <a:latin typeface="Calibri"/>
              </a:rPr>
              <a:t>Mass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37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540"/>
                </a:solidFill>
                <a:latin typeface="Calibri"/>
              </a:rPr>
              <a:t>Size slope q and stirrer mass set the self-stirring strength</a:t>
            </a:r>
          </a:p>
        </p:txBody>
      </p:sp>
      <p:sp>
        <p:nvSpPr>
          <p:cNvPr id="24" name="Banner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1">
                <a:solidFill>
                  <a:srgbClr val="F4A259"/>
                </a:solidFill>
                <a:latin typeface="Calibri"/>
              </a:rPr>
              <a:t>Goal: unite them and see how the stirring rate changes</a:t>
            </a:r>
          </a:p>
        </p:txBody>
      </p:sp>
      <p:sp>
        <p:nvSpPr>
          <p:cNvPr id="26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Quantifying stirring</a:t>
            </a:r>
          </a:p>
        </p:txBody>
      </p:sp>
      <p:sp>
        <p:nvSpPr>
          <p:cNvPr id="3" name="Formula card"/>
          <p:cNvSpPr/>
          <p:nvPr/>
        </p:nvSpPr>
        <p:spPr>
          <a:xfrm>
            <a:off x="548640" y="1280160"/>
            <a:ext cx="4023360" cy="3108960"/>
          </a:xfrm>
          <a:prstGeom prst="roundRect">
            <a:avLst>
              <a:gd name="adj" fmla="val 6000"/>
            </a:avLst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FB8DE"/>
                </a:solidFill>
                <a:latin typeface="Calibri"/>
              </a:rPr>
              <a:t>RMS eccentricity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 i="1" dirty="0" err="1">
                <a:solidFill>
                  <a:srgbClr val="FFFFFF"/>
                </a:solidFill>
                <a:latin typeface="Calibri"/>
              </a:rPr>
              <a:t>e</a:t>
            </a:r>
            <a:r>
              <a:rPr sz="4800" b="1" i="0" baseline="-25000" dirty="0" err="1">
                <a:solidFill>
                  <a:srgbClr val="FFFFFF"/>
                </a:solidFill>
                <a:latin typeface="Calibri"/>
              </a:rPr>
              <a:t>rms</a:t>
            </a:r>
            <a:r>
              <a:rPr sz="4800" b="1" i="0" dirty="0">
                <a:solidFill>
                  <a:srgbClr val="FFFFFF"/>
                </a:solidFill>
                <a:latin typeface="Calibri"/>
              </a:rPr>
              <a:t> ∝ </a:t>
            </a:r>
            <a:r>
              <a:rPr sz="4800" b="1" i="0" dirty="0" err="1">
                <a:solidFill>
                  <a:srgbClr val="FFFFFF"/>
                </a:solidFill>
                <a:latin typeface="Calibri"/>
              </a:rPr>
              <a:t>t</a:t>
            </a:r>
            <a:r>
              <a:rPr sz="4800" b="1" i="1" baseline="30000" dirty="0" err="1">
                <a:solidFill>
                  <a:srgbClr val="FFFFFF"/>
                </a:solidFill>
                <a:latin typeface="Calibri"/>
              </a:rPr>
              <a:t>p</a:t>
            </a:r>
            <a:endParaRPr sz="4800" b="1" i="1" baseline="30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4747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F4A259"/>
                </a:solidFill>
                <a:latin typeface="Calibri"/>
              </a:rPr>
              <a:t>Expected growth: p ≈ 1/4 </a:t>
            </a:r>
            <a:endParaRPr lang="en-US" sz="1600" b="0" i="0" dirty="0">
              <a:solidFill>
                <a:srgbClr val="F4A259"/>
              </a:solidFill>
              <a:latin typeface="Calibri"/>
            </a:endParaRPr>
          </a:p>
          <a:p>
            <a:pPr algn="l"/>
            <a:r>
              <a:rPr sz="1600" b="0" i="0" dirty="0">
                <a:solidFill>
                  <a:srgbClr val="F4A259"/>
                </a:solidFill>
                <a:latin typeface="Calibri"/>
              </a:rPr>
              <a:t>(Krivov &amp; Booth 2018)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937760" y="1325880"/>
                <a:ext cx="365760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sz="2000" b="1" i="0" dirty="0">
                    <a:solidFill>
                      <a:srgbClr val="1B2540"/>
                    </a:solidFill>
                    <a:latin typeface="Calibri"/>
                  </a:rPr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 smtClean="0">
                            <a:solidFill>
                              <a:srgbClr val="1B25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 smtClean="0">
                            <a:solidFill>
                              <a:srgbClr val="1B254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1B2540"/>
                            </a:solidFill>
                            <a:latin typeface="Cambria Math" panose="02040503050406030204" pitchFamily="18" charset="0"/>
                          </a:rPr>
                          <m:t>𝒓𝒎𝒔</m:t>
                        </m:r>
                      </m:sub>
                    </m:sSub>
                  </m:oMath>
                </a14:m>
                <a:r>
                  <a:rPr lang="ar-AE" sz="2000" b="1" i="0" dirty="0">
                    <a:solidFill>
                      <a:srgbClr val="1B2540"/>
                    </a:solidFill>
                    <a:latin typeface="Calibri"/>
                  </a:rPr>
                  <a:t> </a:t>
                </a:r>
                <a:r>
                  <a:rPr lang="en-US" sz="2000" b="1" i="0" dirty="0">
                    <a:solidFill>
                      <a:srgbClr val="1B2540"/>
                    </a:solidFill>
                    <a:latin typeface="Calibri"/>
                  </a:rPr>
                  <a:t>matters</a:t>
                </a:r>
                <a:endParaRPr sz="2000" b="1" i="0" dirty="0">
                  <a:solidFill>
                    <a:srgbClr val="1B254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0" y="1325880"/>
                <a:ext cx="3657600" cy="307777"/>
              </a:xfrm>
              <a:prstGeom prst="rect">
                <a:avLst/>
              </a:prstGeom>
              <a:blipFill>
                <a:blip r:embed="rId3"/>
                <a:stretch>
                  <a:fillRect l="-4152" t="-24000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937760" y="1828800"/>
                <a:ext cx="3657600" cy="860235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28600" indent="-228600">
                  <a:spcAft>
                    <a:spcPts val="800"/>
                  </a:spcAft>
                  <a:buChar char="•"/>
                </a:pPr>
                <a:r>
                  <a:rPr lang="en-US" sz="1600" b="0" i="0" dirty="0">
                    <a:solidFill>
                      <a:srgbClr val="1B2540"/>
                    </a:solidFill>
                    <a:latin typeface="Calibri"/>
                  </a:rPr>
                  <a:t>Sets the collision speed,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b="0" i="1" smtClean="0">
                            <a:solidFill>
                              <a:srgbClr val="1B25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smtClean="0">
                            <a:solidFill>
                              <a:srgbClr val="1B254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1B2540"/>
                            </a:solidFill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</m:oMath>
                </a14:m>
                <a:r>
                  <a:rPr lang="ar-AE" sz="1600" b="0" i="0" dirty="0">
                    <a:solidFill>
                      <a:srgbClr val="1B2540"/>
                    </a:solidFill>
                    <a:latin typeface="Calibri"/>
                  </a:rPr>
                  <a:t> ≈ </a:t>
                </a:r>
                <a:r>
                  <a:rPr lang="en-US" sz="1600" b="0" i="0" dirty="0">
                    <a:solidFill>
                      <a:srgbClr val="1B2540"/>
                    </a:solidFill>
                    <a:latin typeface="Calibri"/>
                  </a:rPr>
                  <a:t>e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1B25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1B254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1B2540"/>
                            </a:solidFill>
                            <a:latin typeface="Cambria Math" panose="02040503050406030204" pitchFamily="18" charset="0"/>
                          </a:rPr>
                          <m:t>𝑘𝑒𝑝𝑙𝑒𝑟</m:t>
                        </m:r>
                      </m:sub>
                    </m:sSub>
                  </m:oMath>
                </a14:m>
                <a:endParaRPr lang="en-US" sz="1600" b="0" i="0" dirty="0">
                  <a:solidFill>
                    <a:srgbClr val="1B2540"/>
                  </a:solidFill>
                  <a:latin typeface="Calibri"/>
                </a:endParaRPr>
              </a:p>
              <a:p>
                <a:pPr marL="228600" indent="-228600">
                  <a:spcAft>
                    <a:spcPts val="800"/>
                  </a:spcAft>
                  <a:buChar char="•"/>
                </a:pPr>
                <a:r>
                  <a:rPr lang="en-US" sz="1600" b="0" i="0" dirty="0">
                    <a:solidFill>
                      <a:srgbClr val="1B2540"/>
                    </a:solidFill>
                    <a:latin typeface="Calibri"/>
                  </a:rPr>
                  <a:t>Sets the radial and vertical thickness of the disk</a:t>
                </a:r>
                <a:endParaRPr sz="1600" b="0" i="0" dirty="0">
                  <a:solidFill>
                    <a:srgbClr val="1B254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0" y="1828800"/>
                <a:ext cx="3657600" cy="860235"/>
              </a:xfrm>
              <a:prstGeom prst="rect">
                <a:avLst/>
              </a:prstGeom>
              <a:blipFill>
                <a:blip r:embed="rId4"/>
                <a:stretch>
                  <a:fillRect l="-3460" t="-8824" r="-692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6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658DC9-C389-107B-2D02-3DC012F9D68B}"/>
              </a:ext>
            </a:extLst>
          </p:cNvPr>
          <p:cNvGrpSpPr/>
          <p:nvPr/>
        </p:nvGrpSpPr>
        <p:grpSpPr>
          <a:xfrm>
            <a:off x="4719586" y="3960770"/>
            <a:ext cx="4215866" cy="731520"/>
            <a:chOff x="548640" y="2148839"/>
            <a:chExt cx="8046720" cy="731520"/>
          </a:xfrm>
        </p:grpSpPr>
        <p:sp>
          <p:nvSpPr>
            <p:cNvPr id="13" name="Row 2">
              <a:extLst>
                <a:ext uri="{FF2B5EF4-FFF2-40B4-BE49-F238E27FC236}">
                  <a16:creationId xmlns:a16="http://schemas.microsoft.com/office/drawing/2014/main" id="{40FBF748-9AE1-79D8-C80A-76F5094FC437}"/>
                </a:ext>
              </a:extLst>
            </p:cNvPr>
            <p:cNvSpPr/>
            <p:nvPr/>
          </p:nvSpPr>
          <p:spPr>
            <a:xfrm>
              <a:off x="548640" y="2148839"/>
              <a:ext cx="8046720" cy="731520"/>
            </a:xfrm>
            <a:prstGeom prst="roundRect">
              <a:avLst>
                <a:gd name="adj" fmla="val 6000"/>
              </a:avLst>
            </a:prstGeom>
            <a:solidFill>
              <a:srgbClr val="EEF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Disk thickness gives i_rms icon circle">
              <a:extLst>
                <a:ext uri="{FF2B5EF4-FFF2-40B4-BE49-F238E27FC236}">
                  <a16:creationId xmlns:a16="http://schemas.microsoft.com/office/drawing/2014/main" id="{09582B2C-C5E8-8E68-3014-7A0B21FA185D}"/>
                </a:ext>
              </a:extLst>
            </p:cNvPr>
            <p:cNvSpPr/>
            <p:nvPr/>
          </p:nvSpPr>
          <p:spPr>
            <a:xfrm>
              <a:off x="731520" y="2240279"/>
              <a:ext cx="548640" cy="548640"/>
            </a:xfrm>
            <a:prstGeom prst="ellipse">
              <a:avLst/>
            </a:prstGeom>
            <a:solidFill>
              <a:srgbClr val="5B8D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Disk thickness gives i_rms icon">
              <a:extLst>
                <a:ext uri="{FF2B5EF4-FFF2-40B4-BE49-F238E27FC236}">
                  <a16:creationId xmlns:a16="http://schemas.microsoft.com/office/drawing/2014/main" id="{3AFB2A23-56A4-AD67-13D3-A5E13C5739F8}"/>
                </a:ext>
              </a:extLst>
            </p:cNvPr>
            <p:cNvSpPr/>
            <p:nvPr/>
          </p:nvSpPr>
          <p:spPr>
            <a:xfrm>
              <a:off x="885139" y="2393899"/>
              <a:ext cx="241401" cy="241401"/>
            </a:xfrm>
            <a:prstGeom prst="upDownArrow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4AE1461-57CF-4118-B769-CBCCB4B55F28}"/>
                    </a:ext>
                  </a:extLst>
                </p:cNvPr>
                <p:cNvSpPr txBox="1"/>
                <p:nvPr/>
              </p:nvSpPr>
              <p:spPr>
                <a:xfrm>
                  <a:off x="1508759" y="2237600"/>
                  <a:ext cx="310895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sz="1800" b="1" i="0" dirty="0">
                      <a:solidFill>
                        <a:srgbClr val="1B2540"/>
                      </a:solidFill>
                      <a:latin typeface="Calibri"/>
                    </a:rPr>
                    <a:t>Disk thickness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𝒓𝒎𝒔</m:t>
                          </m:r>
                        </m:e>
                        <m:sub>
                          <m:r>
                            <a:rPr lang="ar-AE" b="1" i="1" smtClean="0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endParaRPr sz="1800" b="1" i="0" dirty="0">
                    <a:solidFill>
                      <a:srgbClr val="1B2540"/>
                    </a:solidFill>
                    <a:latin typeface="Calibri"/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4AE1461-57CF-4118-B769-CBCCB4B55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8759" y="2237600"/>
                  <a:ext cx="3108959" cy="553998"/>
                </a:xfrm>
                <a:prstGeom prst="rect">
                  <a:avLst/>
                </a:prstGeom>
                <a:blipFill>
                  <a:blip r:embed="rId5"/>
                  <a:stretch>
                    <a:fillRect l="-9302" t="-11111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26880D2-FBB7-A6BD-98D6-4EED9724CE6B}"/>
                </a:ext>
              </a:extLst>
            </p:cNvPr>
            <p:cNvSpPr txBox="1"/>
            <p:nvPr/>
          </p:nvSpPr>
          <p:spPr>
            <a:xfrm>
              <a:off x="4663440" y="2221991"/>
              <a:ext cx="3749039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500" b="0" i="0">
                  <a:solidFill>
                    <a:srgbClr val="1B2540"/>
                  </a:solidFill>
                  <a:latin typeface="Calibri"/>
                </a:rPr>
                <a:t>Vertical scale height in edge-on systems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6D4E5D6-0040-D03D-8673-6FAFDC073116}"/>
              </a:ext>
            </a:extLst>
          </p:cNvPr>
          <p:cNvGrpSpPr/>
          <p:nvPr/>
        </p:nvGrpSpPr>
        <p:grpSpPr>
          <a:xfrm>
            <a:off x="4719584" y="3156098"/>
            <a:ext cx="4215867" cy="731520"/>
            <a:chOff x="548640" y="1280160"/>
            <a:chExt cx="8046720" cy="731520"/>
          </a:xfrm>
        </p:grpSpPr>
        <p:sp>
          <p:nvSpPr>
            <p:cNvPr id="19" name="Row 1">
              <a:extLst>
                <a:ext uri="{FF2B5EF4-FFF2-40B4-BE49-F238E27FC236}">
                  <a16:creationId xmlns:a16="http://schemas.microsoft.com/office/drawing/2014/main" id="{029F0ED2-6A37-74A6-8A44-20822C91D425}"/>
                </a:ext>
              </a:extLst>
            </p:cNvPr>
            <p:cNvSpPr/>
            <p:nvPr/>
          </p:nvSpPr>
          <p:spPr>
            <a:xfrm>
              <a:off x="548640" y="1280160"/>
              <a:ext cx="8046720" cy="731520"/>
            </a:xfrm>
            <a:prstGeom prst="roundRect">
              <a:avLst>
                <a:gd name="adj" fmla="val 6000"/>
              </a:avLst>
            </a:prstGeom>
            <a:solidFill>
              <a:srgbClr val="EEF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Disk width gives e_rms icon circle">
              <a:extLst>
                <a:ext uri="{FF2B5EF4-FFF2-40B4-BE49-F238E27FC236}">
                  <a16:creationId xmlns:a16="http://schemas.microsoft.com/office/drawing/2014/main" id="{DAE043FD-B781-5A1A-82E0-66E6AFA8D4CC}"/>
                </a:ext>
              </a:extLst>
            </p:cNvPr>
            <p:cNvSpPr/>
            <p:nvPr/>
          </p:nvSpPr>
          <p:spPr>
            <a:xfrm>
              <a:off x="731520" y="1371600"/>
              <a:ext cx="548640" cy="548640"/>
            </a:xfrm>
            <a:prstGeom prst="ellipse">
              <a:avLst/>
            </a:prstGeom>
            <a:solidFill>
              <a:srgbClr val="5B8D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Disk width gives e_rms icon">
              <a:extLst>
                <a:ext uri="{FF2B5EF4-FFF2-40B4-BE49-F238E27FC236}">
                  <a16:creationId xmlns:a16="http://schemas.microsoft.com/office/drawing/2014/main" id="{0F7849EF-8784-01F8-1E80-ED3BEF5F08B1}"/>
                </a:ext>
              </a:extLst>
            </p:cNvPr>
            <p:cNvSpPr/>
            <p:nvPr/>
          </p:nvSpPr>
          <p:spPr>
            <a:xfrm>
              <a:off x="885139" y="1525219"/>
              <a:ext cx="241401" cy="241401"/>
            </a:xfrm>
            <a:prstGeom prst="leftRightArrow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D1A87B5-6DA5-01A7-138A-47678059BF6A}"/>
                    </a:ext>
                  </a:extLst>
                </p:cNvPr>
                <p:cNvSpPr txBox="1"/>
                <p:nvPr/>
              </p:nvSpPr>
              <p:spPr>
                <a:xfrm>
                  <a:off x="1508761" y="1368921"/>
                  <a:ext cx="3108961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lang="en-US" sz="1800" b="1" i="0" dirty="0">
                      <a:solidFill>
                        <a:srgbClr val="1B2540"/>
                      </a:solidFill>
                      <a:latin typeface="Calibri"/>
                    </a:rPr>
                    <a:t>Disk width</a:t>
                  </a:r>
                </a:p>
                <a:p>
                  <a:pPr algn="l"/>
                  <a:r>
                    <a:rPr lang="en-US" sz="1800" b="1" i="0" dirty="0">
                      <a:solidFill>
                        <a:srgbClr val="1B2540"/>
                      </a:solidFill>
                      <a:latin typeface="Calibri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𝒓𝒎𝒔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a14:m>
                  <a:endParaRPr sz="1800" b="1" i="0" dirty="0">
                    <a:solidFill>
                      <a:srgbClr val="1B2540"/>
                    </a:solidFill>
                    <a:latin typeface="Calibri"/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D1A87B5-6DA5-01A7-138A-47678059BF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8761" y="1368921"/>
                  <a:ext cx="3108961" cy="553998"/>
                </a:xfrm>
                <a:prstGeom prst="rect">
                  <a:avLst/>
                </a:prstGeom>
                <a:blipFill>
                  <a:blip r:embed="rId6"/>
                  <a:stretch>
                    <a:fillRect l="-9302" t="-11111" b="-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E4B919-A33C-B43F-F0ED-73B5F213EB22}"/>
                </a:ext>
              </a:extLst>
            </p:cNvPr>
            <p:cNvSpPr txBox="1"/>
            <p:nvPr/>
          </p:nvSpPr>
          <p:spPr>
            <a:xfrm>
              <a:off x="4663440" y="1530504"/>
              <a:ext cx="3749039" cy="230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en-US" sz="1500" b="0" i="0" dirty="0">
                  <a:solidFill>
                    <a:srgbClr val="1B2540"/>
                  </a:solidFill>
                  <a:latin typeface="Calibri"/>
                </a:rPr>
                <a:t>Quantifies stirring as a whole</a:t>
              </a:r>
              <a:endParaRPr sz="1500" b="0" i="0" dirty="0">
                <a:solidFill>
                  <a:srgbClr val="1B2540"/>
                </a:solidFill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Simulation setup</a:t>
            </a:r>
          </a:p>
        </p:txBody>
      </p:sp>
      <p:sp>
        <p:nvSpPr>
          <p:cNvPr id="3" name="Stat tile 1"/>
          <p:cNvSpPr/>
          <p:nvPr/>
        </p:nvSpPr>
        <p:spPr>
          <a:xfrm>
            <a:off x="548640" y="109728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5B8DB8"/>
                </a:solidFill>
                <a:latin typeface="Calibri"/>
              </a:rPr>
              <a:t>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B2540"/>
                </a:solidFill>
                <a:latin typeface="Calibri"/>
              </a:rPr>
              <a:t>massive planetesimals</a:t>
            </a:r>
          </a:p>
        </p:txBody>
      </p:sp>
      <p:sp>
        <p:nvSpPr>
          <p:cNvPr id="6" name="Stat tile 2"/>
          <p:cNvSpPr/>
          <p:nvPr/>
        </p:nvSpPr>
        <p:spPr>
          <a:xfrm>
            <a:off x="2624328" y="109728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24328" y="1143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5B8DB8"/>
                </a:solidFill>
                <a:latin typeface="Calibri"/>
              </a:rPr>
              <a:t>100 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1645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B2540"/>
                </a:solidFill>
                <a:latin typeface="Calibri"/>
              </a:rPr>
              <a:t>belt, 95–105 AU wide</a:t>
            </a:r>
          </a:p>
        </p:txBody>
      </p:sp>
      <p:sp>
        <p:nvSpPr>
          <p:cNvPr id="9" name="Stat tile 3"/>
          <p:cNvSpPr/>
          <p:nvPr/>
        </p:nvSpPr>
        <p:spPr>
          <a:xfrm>
            <a:off x="4700016" y="109728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0016" y="1143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5B8DB8"/>
                </a:solidFill>
                <a:latin typeface="Calibri"/>
              </a:rPr>
              <a:t>1–10 M⊕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1645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B2540"/>
                </a:solidFill>
                <a:latin typeface="Calibri"/>
              </a:rPr>
              <a:t>total belt mass</a:t>
            </a:r>
          </a:p>
        </p:txBody>
      </p:sp>
      <p:sp>
        <p:nvSpPr>
          <p:cNvPr id="12" name="Stat tile 4"/>
          <p:cNvSpPr/>
          <p:nvPr/>
        </p:nvSpPr>
        <p:spPr>
          <a:xfrm>
            <a:off x="6775704" y="109728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75704" y="1143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5B8DB8"/>
                </a:solidFill>
                <a:latin typeface="Calibri"/>
              </a:rPr>
              <a:t>q = 3.5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5704" y="1645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B2540"/>
                </a:solidFill>
                <a:latin typeface="Calibri"/>
              </a:rPr>
              <a:t>size-distribution slope</a:t>
            </a:r>
          </a:p>
        </p:txBody>
      </p:sp>
      <p:pic>
        <p:nvPicPr>
          <p:cNvPr id="15" name="a-e figure" descr="a_vs_e_initial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37575"/>
            <a:ext cx="4439503" cy="19945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754880"/>
            <a:ext cx="484150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AA5BD"/>
                </a:solidFill>
                <a:latin typeface="Calibri"/>
              </a:rPr>
              <a:t>REBOUND + Mercurius, full mutual gravity among massive bodies. Initial e, </a:t>
            </a:r>
            <a:r>
              <a:rPr sz="1100" b="0" i="0" dirty="0" err="1">
                <a:solidFill>
                  <a:srgbClr val="9AA5BD"/>
                </a:solidFill>
                <a:latin typeface="Calibri"/>
              </a:rPr>
              <a:t>i</a:t>
            </a:r>
            <a:r>
              <a:rPr sz="1100" b="0" i="0" dirty="0">
                <a:solidFill>
                  <a:srgbClr val="9AA5BD"/>
                </a:solidFill>
                <a:latin typeface="Calibri"/>
              </a:rPr>
              <a:t> ≈ 3×10⁻⁵.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8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45ED2C2-BA0E-56B5-2DC4-41EEF9A67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35" y="2237575"/>
            <a:ext cx="4236424" cy="2151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RMS eccentricity grows as a power law</a:t>
            </a:r>
          </a:p>
        </p:txBody>
      </p:sp>
      <p:pic>
        <p:nvPicPr>
          <p:cNvPr id="3" name="RMS e overlay" descr="rms_e_all_runs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8046720" cy="3193591"/>
          </a:xfrm>
          <a:prstGeom prst="rect">
            <a:avLst/>
          </a:prstGeom>
        </p:spPr>
      </p:pic>
      <p:sp>
        <p:nvSpPr>
          <p:cNvPr id="4" name="Banner"/>
          <p:cNvSpPr/>
          <p:nvPr/>
        </p:nvSpPr>
        <p:spPr>
          <a:xfrm>
            <a:off x="548640" y="434340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 ≈ 0.20–0.25 in every run, close to the 1/4 reference slope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What changes the amplitude</a:t>
            </a:r>
          </a:p>
        </p:txBody>
      </p:sp>
      <p:sp>
        <p:nvSpPr>
          <p:cNvPr id="3" name="Stat tile 1"/>
          <p:cNvSpPr/>
          <p:nvPr/>
        </p:nvSpPr>
        <p:spPr>
          <a:xfrm>
            <a:off x="548640" y="109728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0979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5B8DB8"/>
                </a:solidFill>
                <a:latin typeface="Calibri"/>
              </a:rPr>
              <a:t>×</a:t>
            </a:r>
            <a:r>
              <a:rPr lang="en-US" sz="2400" b="1" i="0" dirty="0">
                <a:solidFill>
                  <a:srgbClr val="5B8DB8"/>
                </a:solidFill>
                <a:latin typeface="Calibri"/>
              </a:rPr>
              <a:t>10</a:t>
            </a:r>
            <a:endParaRPr sz="2400" b="1" i="0" dirty="0">
              <a:solidFill>
                <a:srgbClr val="5B8D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B2540"/>
                </a:solidFill>
                <a:latin typeface="Calibri"/>
              </a:rPr>
              <a:t>10× the belt mass (1 to 10 M⊕, uniform)</a:t>
            </a:r>
          </a:p>
        </p:txBody>
      </p:sp>
      <p:sp>
        <p:nvSpPr>
          <p:cNvPr id="6" name="Stat tile 2"/>
          <p:cNvSpPr/>
          <p:nvPr/>
        </p:nvSpPr>
        <p:spPr>
          <a:xfrm>
            <a:off x="3291840" y="109728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1430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5B8DB8"/>
                </a:solidFill>
                <a:latin typeface="Calibri"/>
              </a:rPr>
              <a:t>≈0.07 → 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B2540"/>
                </a:solidFill>
                <a:latin typeface="Calibri"/>
              </a:rPr>
              <a:t>e_rms at 100 Myr, 10× to 50× stirrers</a:t>
            </a:r>
          </a:p>
        </p:txBody>
      </p:sp>
      <p:sp>
        <p:nvSpPr>
          <p:cNvPr id="9" name="Stat tile 3"/>
          <p:cNvSpPr/>
          <p:nvPr/>
        </p:nvSpPr>
        <p:spPr>
          <a:xfrm>
            <a:off x="6035040" y="109728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1430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5B8DB8"/>
                </a:solidFill>
                <a:latin typeface="Calibri"/>
              </a:rPr>
              <a:t>p barely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1645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B2540"/>
                </a:solidFill>
                <a:latin typeface="Calibri"/>
              </a:rPr>
              <a:t>0.20–0.25 for every mass model</a:t>
            </a:r>
          </a:p>
        </p:txBody>
      </p:sp>
      <p:pic>
        <p:nvPicPr>
          <p:cNvPr id="12" name="Stirrer overlay" descr="rms_e_all_runs_plus_stir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94560"/>
            <a:ext cx="6949440" cy="2758101"/>
          </a:xfrm>
          <a:prstGeom prst="rect">
            <a:avLst/>
          </a:prstGeom>
        </p:spPr>
      </p:pic>
      <p:sp>
        <p:nvSpPr>
          <p:cNvPr id="13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Next: add a giant planet</a:t>
            </a:r>
          </a:p>
        </p:txBody>
      </p:sp>
      <p:sp>
        <p:nvSpPr>
          <p:cNvPr id="3" name="Belt"/>
          <p:cNvSpPr/>
          <p:nvPr/>
        </p:nvSpPr>
        <p:spPr>
          <a:xfrm>
            <a:off x="640080" y="1965960"/>
            <a:ext cx="3291840" cy="1645920"/>
          </a:xfrm>
          <a:prstGeom prst="ellipse">
            <a:avLst/>
          </a:prstGeom>
          <a:noFill/>
          <a:ln w="127000">
            <a:solidFill>
              <a:srgbClr val="8F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lanet orbit"/>
          <p:cNvSpPr/>
          <p:nvPr/>
        </p:nvSpPr>
        <p:spPr>
          <a:xfrm>
            <a:off x="1645920" y="2468879"/>
            <a:ext cx="1280160" cy="640080"/>
          </a:xfrm>
          <a:prstGeom prst="ellipse">
            <a:avLst/>
          </a:prstGeom>
          <a:noFill/>
          <a:ln w="12700">
            <a:solidFill>
              <a:srgbClr val="9AA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tar"/>
          <p:cNvSpPr/>
          <p:nvPr/>
        </p:nvSpPr>
        <p:spPr>
          <a:xfrm>
            <a:off x="2176272" y="2679191"/>
            <a:ext cx="219456" cy="219456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lanet"/>
          <p:cNvSpPr/>
          <p:nvPr/>
        </p:nvSpPr>
        <p:spPr>
          <a:xfrm>
            <a:off x="2834640" y="2697479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679191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76F51"/>
                </a:solidFill>
                <a:latin typeface="Calibri"/>
              </a:rPr>
              <a:t>planet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749039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8DB8"/>
                </a:solidFill>
                <a:latin typeface="Calibri"/>
              </a:rPr>
              <a:t>belt</a:t>
            </a:r>
          </a:p>
        </p:txBody>
      </p:sp>
      <p:sp>
        <p:nvSpPr>
          <p:cNvPr id="9" name="Number 1"/>
          <p:cNvSpPr/>
          <p:nvPr/>
        </p:nvSpPr>
        <p:spPr>
          <a:xfrm>
            <a:off x="4572000" y="1417319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32B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68530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1B2540"/>
                </a:solidFill>
                <a:latin typeface="Calibri"/>
              </a:rPr>
              <a:t>Does a planet stir faster than self-stirring</a:t>
            </a:r>
          </a:p>
        </p:txBody>
      </p:sp>
      <p:sp>
        <p:nvSpPr>
          <p:cNvPr id="12" name="Number 2"/>
          <p:cNvSpPr/>
          <p:nvPr/>
        </p:nvSpPr>
        <p:spPr>
          <a:xfrm>
            <a:off x="4572000" y="2377440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32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28600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1B2540"/>
                </a:solidFill>
                <a:latin typeface="Calibri"/>
              </a:rPr>
              <a:t>Does it truncate or warp the belt, adding structure that </a:t>
            </a:r>
            <a:r>
              <a:rPr sz="1600" b="0" i="0" dirty="0" err="1">
                <a:solidFill>
                  <a:srgbClr val="1B2540"/>
                </a:solidFill>
                <a:latin typeface="Calibri"/>
              </a:rPr>
              <a:t>e_rms</a:t>
            </a:r>
            <a:r>
              <a:rPr sz="1600" b="0" i="0" dirty="0">
                <a:solidFill>
                  <a:srgbClr val="1B2540"/>
                </a:solidFill>
                <a:latin typeface="Calibri"/>
              </a:rPr>
              <a:t> misses?</a:t>
            </a:r>
          </a:p>
        </p:txBody>
      </p:sp>
      <p:sp>
        <p:nvSpPr>
          <p:cNvPr id="15" name="Number 3"/>
          <p:cNvSpPr/>
          <p:nvPr/>
        </p:nvSpPr>
        <p:spPr>
          <a:xfrm>
            <a:off x="4572000" y="3337560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337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32B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B2540"/>
                </a:solidFill>
                <a:latin typeface="Calibri"/>
              </a:rPr>
              <a:t>Can width, thickness and edge sharpness tell the two apart?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F4A25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7223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Debris disks make dust only if stirred, and stirring tells us how planets formed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F4A259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7223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Self-stirring in N-body runs gives RMS e growing as t^¼ (p ≈ 0.20–0.25), robust across mass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F4A259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7223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Next: add a giant planet and compare the signatures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1">
                <a:solidFill>
                  <a:srgbClr val="8FB8DE"/>
                </a:solidFill>
                <a:latin typeface="Calibri"/>
              </a:rPr>
              <a:t>Questions?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A reproducible pipeline</a:t>
            </a:r>
          </a:p>
        </p:txBody>
      </p:sp>
      <p:sp>
        <p:nvSpPr>
          <p:cNvPr id="3" name="Step 1"/>
          <p:cNvSpPr/>
          <p:nvPr/>
        </p:nvSpPr>
        <p:spPr>
          <a:xfrm>
            <a:off x="548640" y="1417320"/>
            <a:ext cx="2286000" cy="246888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YAML config icon circle"/>
          <p:cNvSpPr/>
          <p:nvPr/>
        </p:nvSpPr>
        <p:spPr>
          <a:xfrm>
            <a:off x="1371600" y="1600200"/>
            <a:ext cx="640080" cy="640080"/>
          </a:xfrm>
          <a:prstGeom prst="ellipse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YAML config icon"/>
          <p:cNvSpPr/>
          <p:nvPr/>
        </p:nvSpPr>
        <p:spPr>
          <a:xfrm>
            <a:off x="1550822" y="1779422"/>
            <a:ext cx="281635" cy="281635"/>
          </a:xfrm>
          <a:prstGeom prst="flowChartDocumen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2540"/>
                </a:solidFill>
                <a:latin typeface="Calibri"/>
              </a:rPr>
              <a:t>YAML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B2540"/>
                </a:solidFill>
                <a:latin typeface="Calibri"/>
              </a:rPr>
              <a:t>Frozen copy plus git commit and environment saved with each run</a:t>
            </a:r>
          </a:p>
        </p:txBody>
      </p:sp>
      <p:sp>
        <p:nvSpPr>
          <p:cNvPr id="8" name="Arrow 1"/>
          <p:cNvSpPr/>
          <p:nvPr/>
        </p:nvSpPr>
        <p:spPr>
          <a:xfrm>
            <a:off x="2926080" y="2514600"/>
            <a:ext cx="457200" cy="320040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ep 2"/>
          <p:cNvSpPr/>
          <p:nvPr/>
        </p:nvSpPr>
        <p:spPr>
          <a:xfrm>
            <a:off x="3474720" y="1417320"/>
            <a:ext cx="2286000" cy="246888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un on lab machine icon circle"/>
          <p:cNvSpPr/>
          <p:nvPr/>
        </p:nvSpPr>
        <p:spPr>
          <a:xfrm>
            <a:off x="4297680" y="1600200"/>
            <a:ext cx="640080" cy="640080"/>
          </a:xfrm>
          <a:prstGeom prst="ellipse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un on lab machine icon"/>
          <p:cNvSpPr/>
          <p:nvPr/>
        </p:nvSpPr>
        <p:spPr>
          <a:xfrm>
            <a:off x="4476902" y="1779422"/>
            <a:ext cx="281635" cy="281635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2540"/>
                </a:solidFill>
                <a:latin typeface="Calibri"/>
              </a:rPr>
              <a:t>Run on lab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346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B2540"/>
                </a:solidFill>
                <a:latin typeface="Calibri"/>
              </a:rPr>
              <a:t>Dispatched over SSH, phone notification when done</a:t>
            </a:r>
          </a:p>
        </p:txBody>
      </p:sp>
      <p:sp>
        <p:nvSpPr>
          <p:cNvPr id="14" name="Arrow 2"/>
          <p:cNvSpPr/>
          <p:nvPr/>
        </p:nvSpPr>
        <p:spPr>
          <a:xfrm>
            <a:off x="5852160" y="2514600"/>
            <a:ext cx="457200" cy="320040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ep 3"/>
          <p:cNvSpPr/>
          <p:nvPr/>
        </p:nvSpPr>
        <p:spPr>
          <a:xfrm>
            <a:off x="6400800" y="1417320"/>
            <a:ext cx="2286000" cy="246888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port and figures icon circle"/>
          <p:cNvSpPr/>
          <p:nvPr/>
        </p:nvSpPr>
        <p:spPr>
          <a:xfrm>
            <a:off x="7223760" y="1600200"/>
            <a:ext cx="640080" cy="640080"/>
          </a:xfrm>
          <a:prstGeom prst="ellipse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port and figures icon"/>
          <p:cNvSpPr/>
          <p:nvPr/>
        </p:nvSpPr>
        <p:spPr>
          <a:xfrm>
            <a:off x="7402982" y="1934321"/>
            <a:ext cx="56327" cy="1267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port and figures icon"/>
          <p:cNvSpPr/>
          <p:nvPr/>
        </p:nvSpPr>
        <p:spPr>
          <a:xfrm>
            <a:off x="7515636" y="1863912"/>
            <a:ext cx="56327" cy="19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port and figures icon"/>
          <p:cNvSpPr/>
          <p:nvPr/>
        </p:nvSpPr>
        <p:spPr>
          <a:xfrm>
            <a:off x="7628290" y="1779422"/>
            <a:ext cx="56327" cy="2816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4231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2540"/>
                </a:solidFill>
                <a:latin typeface="Calibri"/>
              </a:rPr>
              <a:t>Report and figures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346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B2540"/>
                </a:solidFill>
                <a:latin typeface="Calibri"/>
              </a:rPr>
              <a:t>Provenance stamp on every 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B8DB8"/>
                </a:solidFill>
                <a:latin typeface="Calibri"/>
              </a:rPr>
              <a:t>Any figure ties back to the exact code and config that made it</a:t>
            </a:r>
          </a:p>
        </p:txBody>
      </p:sp>
      <p:sp>
        <p:nvSpPr>
          <p:cNvPr id="23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How we measure stirring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931583C-DC83-1D2B-C276-51CA86D6F9B2}"/>
              </a:ext>
            </a:extLst>
          </p:cNvPr>
          <p:cNvGrpSpPr/>
          <p:nvPr/>
        </p:nvGrpSpPr>
        <p:grpSpPr>
          <a:xfrm>
            <a:off x="548640" y="1280160"/>
            <a:ext cx="8046720" cy="731520"/>
            <a:chOff x="548640" y="1280160"/>
            <a:chExt cx="8046720" cy="731520"/>
          </a:xfrm>
        </p:grpSpPr>
        <p:sp>
          <p:nvSpPr>
            <p:cNvPr id="3" name="Row 1"/>
            <p:cNvSpPr/>
            <p:nvPr/>
          </p:nvSpPr>
          <p:spPr>
            <a:xfrm>
              <a:off x="548640" y="1280160"/>
              <a:ext cx="8046720" cy="731520"/>
            </a:xfrm>
            <a:prstGeom prst="roundRect">
              <a:avLst>
                <a:gd name="adj" fmla="val 6000"/>
              </a:avLst>
            </a:prstGeom>
            <a:solidFill>
              <a:srgbClr val="EEF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Disk width gives e_rms icon circle"/>
            <p:cNvSpPr/>
            <p:nvPr/>
          </p:nvSpPr>
          <p:spPr>
            <a:xfrm>
              <a:off x="731520" y="1371600"/>
              <a:ext cx="548640" cy="548640"/>
            </a:xfrm>
            <a:prstGeom prst="ellipse">
              <a:avLst/>
            </a:prstGeom>
            <a:solidFill>
              <a:srgbClr val="5B8D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Disk width gives e_rms icon"/>
            <p:cNvSpPr/>
            <p:nvPr/>
          </p:nvSpPr>
          <p:spPr>
            <a:xfrm>
              <a:off x="885139" y="1525219"/>
              <a:ext cx="241401" cy="241401"/>
            </a:xfrm>
            <a:prstGeom prst="leftRightArrow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508760" y="1507420"/>
                  <a:ext cx="310896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lang="en-US" sz="1800" b="1" i="0" dirty="0">
                      <a:solidFill>
                        <a:srgbClr val="1B2540"/>
                      </a:solidFill>
                      <a:latin typeface="Calibri"/>
                    </a:rPr>
                    <a:t>Disk width gives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𝒓𝒎𝒔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a14:m>
                  <a:endParaRPr sz="1800" b="1" i="0" dirty="0">
                    <a:solidFill>
                      <a:srgbClr val="1B2540"/>
                    </a:solidFill>
                    <a:latin typeface="Calibri"/>
                  </a:endParaRPr>
                </a:p>
              </p:txBody>
            </p:sp>
          </mc:Choice>
          <mc:Fallback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8760" y="1507420"/>
                  <a:ext cx="310896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898" t="-21739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/>
            <p:cNvSpPr txBox="1"/>
            <p:nvPr/>
          </p:nvSpPr>
          <p:spPr>
            <a:xfrm>
              <a:off x="4663440" y="1530504"/>
              <a:ext cx="3749039" cy="230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en-US" sz="1500" b="0" i="0" dirty="0">
                  <a:solidFill>
                    <a:srgbClr val="1B2540"/>
                  </a:solidFill>
                  <a:latin typeface="Calibri"/>
                </a:rPr>
                <a:t>Quantifies stirring as a whole</a:t>
              </a:r>
              <a:endParaRPr sz="1500" b="0" i="0" dirty="0">
                <a:solidFill>
                  <a:srgbClr val="1B2540"/>
                </a:solidFill>
                <a:latin typeface="Calibri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66DDF53-0E85-D1D8-97C0-D69BB19CF756}"/>
              </a:ext>
            </a:extLst>
          </p:cNvPr>
          <p:cNvGrpSpPr/>
          <p:nvPr/>
        </p:nvGrpSpPr>
        <p:grpSpPr>
          <a:xfrm>
            <a:off x="548640" y="2148839"/>
            <a:ext cx="8046720" cy="731520"/>
            <a:chOff x="548640" y="2148839"/>
            <a:chExt cx="8046720" cy="731520"/>
          </a:xfrm>
        </p:grpSpPr>
        <p:sp>
          <p:nvSpPr>
            <p:cNvPr id="8" name="Row 2"/>
            <p:cNvSpPr/>
            <p:nvPr/>
          </p:nvSpPr>
          <p:spPr>
            <a:xfrm>
              <a:off x="548640" y="2148839"/>
              <a:ext cx="8046720" cy="731520"/>
            </a:xfrm>
            <a:prstGeom prst="roundRect">
              <a:avLst>
                <a:gd name="adj" fmla="val 6000"/>
              </a:avLst>
            </a:prstGeom>
            <a:solidFill>
              <a:srgbClr val="EEF2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Disk thickness gives i_rms icon circle"/>
            <p:cNvSpPr/>
            <p:nvPr/>
          </p:nvSpPr>
          <p:spPr>
            <a:xfrm>
              <a:off x="731520" y="2240279"/>
              <a:ext cx="548640" cy="548640"/>
            </a:xfrm>
            <a:prstGeom prst="ellipse">
              <a:avLst/>
            </a:prstGeom>
            <a:solidFill>
              <a:srgbClr val="5B8D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Disk thickness gives i_rms icon"/>
            <p:cNvSpPr/>
            <p:nvPr/>
          </p:nvSpPr>
          <p:spPr>
            <a:xfrm>
              <a:off x="885139" y="2393899"/>
              <a:ext cx="241401" cy="241401"/>
            </a:xfrm>
            <a:prstGeom prst="upDownArrow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508760" y="2376099"/>
                  <a:ext cx="310896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sz="1800" b="1" i="0" dirty="0">
                      <a:solidFill>
                        <a:srgbClr val="1B2540"/>
                      </a:solidFill>
                      <a:latin typeface="Calibri"/>
                    </a:rPr>
                    <a:t>Disk thickness gives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𝒓𝒎𝒔</m:t>
                          </m:r>
                        </m:e>
                        <m:sub>
                          <m:r>
                            <a:rPr lang="ar-AE" b="1" i="1" smtClean="0">
                              <a:solidFill>
                                <a:srgbClr val="1B254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endParaRPr sz="1800" b="1" i="0" dirty="0">
                    <a:solidFill>
                      <a:srgbClr val="1B2540"/>
                    </a:solidFill>
                    <a:latin typeface="Calibri"/>
                  </a:endParaRPr>
                </a:p>
              </p:txBody>
            </p:sp>
          </mc:Choice>
          <mc:Fallback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8760" y="2376099"/>
                  <a:ext cx="310896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898" t="-27273" b="-5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4663440" y="2221991"/>
              <a:ext cx="3749039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500" b="0" i="0">
                  <a:solidFill>
                    <a:srgbClr val="1B2540"/>
                  </a:solidFill>
                  <a:latin typeface="Calibri"/>
                </a:rPr>
                <a:t>Vertical scale height in edge-on systems</a:t>
              </a:r>
            </a:p>
          </p:txBody>
        </p:sp>
      </p:grpSp>
      <p:sp>
        <p:nvSpPr>
          <p:cNvPr id="13" name="Row 3"/>
          <p:cNvSpPr/>
          <p:nvPr/>
        </p:nvSpPr>
        <p:spPr>
          <a:xfrm>
            <a:off x="548640" y="3017520"/>
            <a:ext cx="8046720" cy="7315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ust brightness vs. age icon circle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ust brightness vs. age icon"/>
          <p:cNvSpPr/>
          <p:nvPr/>
        </p:nvSpPr>
        <p:spPr>
          <a:xfrm>
            <a:off x="885139" y="3262579"/>
            <a:ext cx="241401" cy="241401"/>
          </a:xfrm>
          <a:prstGeom prst="su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8760" y="3090672"/>
            <a:ext cx="31089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>
                <a:solidFill>
                  <a:srgbClr val="1B2540"/>
                </a:solidFill>
                <a:latin typeface="Calibri"/>
              </a:rPr>
              <a:t>Dust brightness vs. 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90672"/>
            <a:ext cx="374903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540"/>
                </a:solidFill>
                <a:latin typeface="Calibri"/>
              </a:rPr>
              <a:t>Collisional decay depends on relative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1">
                <a:solidFill>
                  <a:srgbClr val="5B8DB8"/>
                </a:solidFill>
                <a:latin typeface="Calibri"/>
              </a:rPr>
              <a:t>We see the dust and infer the planetesimals, so simulations bridge the gap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35B35-CD44-375A-DBE0-0E4F3E1CD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8FDD-96B6-9ABB-FFE3-0110ADE7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Calibration against Krivov &amp; Booth</a:t>
            </a:r>
          </a:p>
        </p:txBody>
      </p:sp>
      <p:pic>
        <p:nvPicPr>
          <p:cNvPr id="3" name="Calibration figure" descr="rmse_kirvov_calibration.png">
            <a:extLst>
              <a:ext uri="{FF2B5EF4-FFF2-40B4-BE49-F238E27FC236}">
                <a16:creationId xmlns:a16="http://schemas.microsoft.com/office/drawing/2014/main" id="{1FDDA6E0-B3E5-E10F-F850-37A52C3FE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480560" cy="3305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7AEB54-B0B1-9707-A488-8092C2A49159}"/>
              </a:ext>
            </a:extLst>
          </p:cNvPr>
          <p:cNvSpPr txBox="1"/>
          <p:nvPr/>
        </p:nvSpPr>
        <p:spPr>
          <a:xfrm>
            <a:off x="5212080" y="1280160"/>
            <a:ext cx="347472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B2540"/>
                </a:solidFill>
                <a:latin typeface="Calibri"/>
              </a:rPr>
              <a:t>100 massive planetesimals, 95–105 AU, 100 Myr, solar-mass star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B2540"/>
                </a:solidFill>
                <a:latin typeface="Calibri"/>
              </a:rPr>
              <a:t>N-body (solid) vs analytic model (dashed) for 10×, 30×, 50× stirrers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B2540"/>
                </a:solidFill>
                <a:latin typeface="Calibri"/>
              </a:rPr>
              <a:t>Same growth rate: p = 0.20–0.23 vs 1/4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B2540"/>
                </a:solidFill>
                <a:latin typeface="Calibri"/>
              </a:rPr>
              <a:t>N-body sits slightly below the analytic curve at late times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EF89F-5FD9-EE79-1353-572DE057246E}"/>
              </a:ext>
            </a:extLst>
          </p:cNvPr>
          <p:cNvSpPr txBox="1"/>
          <p:nvPr/>
        </p:nvSpPr>
        <p:spPr>
          <a:xfrm>
            <a:off x="5212080" y="40233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76F51"/>
                </a:solidFill>
                <a:latin typeface="Calibri"/>
              </a:rPr>
              <a:t>[fill: what this implies for the setup]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B39A744-1B07-CCAC-B4B6-D55F8BD31F56}"/>
              </a:ext>
            </a:extLst>
          </p:cNvPr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80302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73152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1B2540"/>
                </a:solidFill>
                <a:latin typeface="Cambria"/>
              </a:rPr>
              <a:t>Calibration against Krivov &amp; Booth</a:t>
            </a:r>
          </a:p>
        </p:txBody>
      </p:sp>
      <p:pic>
        <p:nvPicPr>
          <p:cNvPr id="3" name="Calibration figure" descr="rmse_kirvov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480560" cy="33050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1280160"/>
            <a:ext cx="347472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B2540"/>
                </a:solidFill>
                <a:latin typeface="Calibri"/>
              </a:rPr>
              <a:t>100 massive planetesimals, 95–105 AU, 100 Myr, solar-mass star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B2540"/>
                </a:solidFill>
                <a:latin typeface="Calibri"/>
              </a:rPr>
              <a:t>N-body (solid) vs analytic model (dashed) for 10×, 30×, 50× stirrers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B2540"/>
                </a:solidFill>
                <a:latin typeface="Calibri"/>
              </a:rPr>
              <a:t>Same growth rate: p = 0.20–0.23 vs 1/4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B2540"/>
                </a:solidFill>
                <a:latin typeface="Calibri"/>
              </a:rPr>
              <a:t>N-body sits slightly below the analytic curve at late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40233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76F51"/>
                </a:solidFill>
                <a:latin typeface="Calibri"/>
              </a:rPr>
              <a:t>[fill: what this implies for the setup]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1380</Words>
  <Application>Microsoft Macintosh PowerPoint</Application>
  <PresentationFormat>On-screen Show (16:9)</PresentationFormat>
  <Paragraphs>158</Paragraphs>
  <Slides>16</Slides>
  <Notes>16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Cambria Math</vt:lpstr>
      <vt:lpstr>Office Theme</vt:lpstr>
      <vt:lpstr>Testing Debris Disk Dynamics </vt:lpstr>
      <vt:lpstr>What is a debris disk?</vt:lpstr>
      <vt:lpstr>Why debris disks matter</vt:lpstr>
      <vt:lpstr>The puzzle: collisions need stirring</vt:lpstr>
      <vt:lpstr>Two main ways to stir a disk</vt:lpstr>
      <vt:lpstr>Mixed stirring: both at once</vt:lpstr>
      <vt:lpstr>Quantifying stirring</vt:lpstr>
      <vt:lpstr>Simulation setup</vt:lpstr>
      <vt:lpstr>RMS eccentricity grows as a power law</vt:lpstr>
      <vt:lpstr>What changes the amplitude</vt:lpstr>
      <vt:lpstr>Next: add a giant planet</vt:lpstr>
      <vt:lpstr>Summary</vt:lpstr>
      <vt:lpstr>A reproducible pipeline</vt:lpstr>
      <vt:lpstr>How we measure stirring</vt:lpstr>
      <vt:lpstr>Calibration against Krivov &amp; Booth</vt:lpstr>
      <vt:lpstr>Calibration against Krivov &amp; Booth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Elaine Nieves</cp:lastModifiedBy>
  <cp:revision>2</cp:revision>
  <dcterms:created xsi:type="dcterms:W3CDTF">2013-01-27T09:14:16Z</dcterms:created>
  <dcterms:modified xsi:type="dcterms:W3CDTF">2026-10-13T17:47:28Z</dcterms:modified>
  <cp:category/>
</cp:coreProperties>
</file>